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6858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9"/>
                </a:solidFill>
                <a:latin typeface="Aptos"/>
              </a:rPr>
              <a:t>GYM TREADMILL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19072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ED375"/>
                </a:solidFill>
                <a:latin typeface="Aptos"/>
              </a:rPr>
              <a:t>RESERVATION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487168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4AEBC"/>
                </a:solidFill>
                <a:latin typeface="Aptos"/>
              </a:rPr>
              <a:t>Short project README /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35808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2F5F9"/>
                </a:solidFill>
                <a:latin typeface="Aptos"/>
              </a:rPr>
              <a:t>Computer-vision-assisted treadmill occupancy monitoring and reservation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4572000"/>
            <a:ext cx="2057400" cy="105156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473659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OCCUPIED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505663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5F9"/>
                </a:solidFill>
                <a:latin typeface="Aptos"/>
              </a:rPr>
              <a:t>treadmill-1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4572000"/>
            <a:ext cx="2057400" cy="105156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5264" y="473659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375"/>
                </a:solidFill>
                <a:latin typeface="Aptos"/>
              </a:rPr>
              <a:t>EMPTY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505663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5F9"/>
                </a:solidFill>
                <a:latin typeface="Aptos"/>
              </a:rPr>
              <a:t>treadmill-2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22392" y="4572000"/>
            <a:ext cx="2057400" cy="105156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3" y="473659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A541"/>
                </a:solidFill>
                <a:latin typeface="Aptos"/>
              </a:rPr>
              <a:t>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3" y="505663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5F9"/>
                </a:solidFill>
                <a:latin typeface="Aptos"/>
              </a:rPr>
              <a:t>anchor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EBC"/>
                </a:solidFill>
                <a:latin typeface="Aptos"/>
              </a:rPr>
              <a:t>Gym Treadmill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AEB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1. Project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AEBC"/>
                </a:solidFill>
                <a:latin typeface="Aptos"/>
              </a:rPr>
              <a:t>What the system is designed to demonstrate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ED375"/>
                </a:solidFill>
                <a:latin typeface="Aptos"/>
              </a:rP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617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700">
                <a:solidFill>
                  <a:srgbClr val="F2F5F9"/>
                </a:solidFill>
                <a:latin typeface="Aptos"/>
              </a:defRPr>
            </a:pPr>
            <a:r>
              <a:t>• Monitor gym treadmills from camera feeds.</a:t>
            </a:r>
          </a:p>
          <a:p>
            <a:pPr>
              <a:spcAft>
                <a:spcPts val="720"/>
              </a:spcAft>
              <a:defRPr sz="1700">
                <a:solidFill>
                  <a:srgbClr val="F2F5F9"/>
                </a:solidFill>
                <a:latin typeface="Aptos"/>
              </a:defRPr>
            </a:pPr>
            <a:r>
              <a:t>• Detect whether a treadmill is occupied or empty.</a:t>
            </a:r>
          </a:p>
          <a:p>
            <a:pPr>
              <a:spcAft>
                <a:spcPts val="720"/>
              </a:spcAft>
              <a:defRPr sz="1700">
                <a:solidFill>
                  <a:srgbClr val="F2F5F9"/>
                </a:solidFill>
                <a:latin typeface="Aptos"/>
              </a:defRPr>
            </a:pPr>
            <a:r>
              <a:t>• Associate observations across camera views using an anchor point.</a:t>
            </a:r>
          </a:p>
          <a:p>
            <a:pPr>
              <a:spcAft>
                <a:spcPts val="720"/>
              </a:spcAft>
              <a:defRPr sz="1700">
                <a:solidFill>
                  <a:srgbClr val="F2F5F9"/>
                </a:solidFill>
                <a:latin typeface="Aptos"/>
              </a:defRPr>
            </a:pPr>
            <a:r>
              <a:t>• Expose the current treadmill state for a reservation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1947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A541"/>
                </a:solidFill>
                <a:latin typeface="Aptos"/>
              </a:rPr>
              <a:t>Observed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8523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F5F9"/>
                </a:solidFill>
                <a:latin typeface="Aptos"/>
              </a:rPr>
              <a:t>treadmill-1: OCCUPIED   •   treadmill-2: EMPTY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296FF"/>
                </a:solidFill>
                <a:latin typeface="Aptos"/>
              </a:rPr>
              <a:t>Conceptual workflow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2240280"/>
            <a:ext cx="393192" cy="393192"/>
          </a:xfrm>
          <a:prstGeom prst="ellipse">
            <a:avLst/>
          </a:prstGeom>
          <a:solidFill>
            <a:srgbClr val="1E242F"/>
          </a:solidFill>
          <a:ln>
            <a:solidFill>
              <a:srgbClr val="2ED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04288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ED375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22199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Camera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221992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AEBC"/>
                </a:solidFill>
                <a:latin typeface="Aptos"/>
              </a:rPr>
              <a:t>Wide camera + bird's-eye view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898648"/>
            <a:ext cx="393192" cy="393192"/>
          </a:xfrm>
          <a:prstGeom prst="ellipse">
            <a:avLst/>
          </a:prstGeom>
          <a:solidFill>
            <a:srgbClr val="1E242F"/>
          </a:solidFill>
          <a:ln>
            <a:solidFill>
              <a:srgbClr val="2ED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962656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ED375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8803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Treadmill regions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88036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AEBC"/>
                </a:solidFill>
                <a:latin typeface="Aptos"/>
              </a:rPr>
              <a:t>Configured treadmill areas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3557016"/>
            <a:ext cx="393192" cy="393192"/>
          </a:xfrm>
          <a:prstGeom prst="ellipse">
            <a:avLst/>
          </a:prstGeom>
          <a:solidFill>
            <a:srgbClr val="1E242F"/>
          </a:solidFill>
          <a:ln>
            <a:solidFill>
              <a:srgbClr val="2ED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621024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ED375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387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Occupancy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538728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AEBC"/>
                </a:solidFill>
                <a:latin typeface="Aptos"/>
              </a:rPr>
              <a:t>Person presence determines state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4215384"/>
            <a:ext cx="393192" cy="393192"/>
          </a:xfrm>
          <a:prstGeom prst="ellipse">
            <a:avLst/>
          </a:prstGeom>
          <a:solidFill>
            <a:srgbClr val="1E242F"/>
          </a:solidFill>
          <a:ln>
            <a:solidFill>
              <a:srgbClr val="2ED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79392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ED375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19709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Cross-view anchor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197096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AEBC"/>
                </a:solidFill>
                <a:latin typeface="Aptos"/>
              </a:rPr>
              <a:t>Point links the observation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4873752"/>
            <a:ext cx="393192" cy="393192"/>
          </a:xfrm>
          <a:prstGeom prst="ellipse">
            <a:avLst/>
          </a:prstGeom>
          <a:solidFill>
            <a:srgbClr val="1E242F"/>
          </a:solidFill>
          <a:ln>
            <a:solidFill>
              <a:srgbClr val="2ED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ED375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85546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F5F9"/>
                </a:solidFill>
                <a:latin typeface="Aptos"/>
              </a:rPr>
              <a:t>Reservation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855464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AEBC"/>
                </a:solidFill>
                <a:latin typeface="Aptos"/>
              </a:rPr>
              <a:t>Available / occupied information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EBC"/>
                </a:solidFill>
                <a:latin typeface="Aptos"/>
              </a:rPr>
              <a:t>Gym Treadmill Reservation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AEB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2. Detection &amp; tracking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AEBC"/>
                </a:solidFill>
                <a:latin typeface="Aptos"/>
              </a:rPr>
              <a:t>The supplied screenshots show the same two treadmill regions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6903720" cy="4800600"/>
          </a:xfrm>
          <a:prstGeom prst="roundRect">
            <a:avLst/>
          </a:prstGeom>
          <a:solidFill>
            <a:srgbClr val="080A0E"/>
          </a:solidFill>
          <a:ln w="12700">
            <a:solidFill>
              <a:srgbClr val="1E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9-07 131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62455"/>
            <a:ext cx="6903720" cy="37274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325880"/>
            <a:ext cx="3886200" cy="480060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A541"/>
                </a:solidFill>
                <a:latin typeface="Aptos"/>
              </a:rPr>
              <a:t>Frame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84831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AEBC"/>
                </a:solidFill>
                <a:latin typeface="Aptos"/>
              </a:rPr>
              <a:t>Initial observed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786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5F9"/>
                </a:solidFill>
                <a:latin typeface="Aptos"/>
              </a:rPr>
              <a:t>treadmill-1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57860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4C4C"/>
                </a:solidFill>
                <a:latin typeface="Aptos"/>
              </a:rPr>
              <a:t>OCCUPIED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358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5F9"/>
                </a:solidFill>
                <a:latin typeface="Aptos"/>
              </a:rPr>
              <a:t>treadmill-2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03580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2ED375"/>
                </a:solidFill>
                <a:latin typeface="Aptos"/>
              </a:rPr>
              <a:t>EMPTY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79476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5F9"/>
                </a:solidFill>
                <a:latin typeface="Aptos"/>
              </a:rPr>
              <a:t>The wide camera view provides the context while the bird's-eye panel shows the corresponding treadmill region.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074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96FF"/>
                </a:solidFill>
                <a:latin typeface="Aptos"/>
              </a:rPr>
              <a:t>Visual markers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394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150">
                <a:solidFill>
                  <a:srgbClr val="F2F5F9"/>
                </a:solidFill>
                <a:latin typeface="Aptos"/>
              </a:defRPr>
            </a:pPr>
            <a:r>
              <a:t>• Red/green regions indicate treadmill state.</a:t>
            </a:r>
          </a:p>
          <a:p>
            <a:pPr>
              <a:spcAft>
                <a:spcPts val="720"/>
              </a:spcAft>
              <a:defRPr sz="1150">
                <a:solidFill>
                  <a:srgbClr val="F2F5F9"/>
                </a:solidFill>
                <a:latin typeface="Aptos"/>
              </a:defRPr>
            </a:pPr>
            <a:r>
              <a:t>• Orange point marks the tracked anchor.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EBC"/>
                </a:solidFill>
                <a:latin typeface="Aptos"/>
              </a:rPr>
              <a:t>Gym Treadmill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AEB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3. State change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AEBC"/>
                </a:solidFill>
                <a:latin typeface="Aptos"/>
              </a:rPr>
              <a:t>The supplied frames illustrate occupancy changing during the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6903720" cy="4800600"/>
          </a:xfrm>
          <a:prstGeom prst="roundRect">
            <a:avLst/>
          </a:prstGeom>
          <a:solidFill>
            <a:srgbClr val="080A0E"/>
          </a:solidFill>
          <a:ln w="12700">
            <a:solidFill>
              <a:srgbClr val="1E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9-07 131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01798"/>
            <a:ext cx="6903720" cy="38487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325880"/>
            <a:ext cx="3886200" cy="480060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6420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A541"/>
                </a:solidFill>
                <a:latin typeface="Aptos"/>
              </a:rPr>
              <a:t>Frame 30  •  t ≈ 3.00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AEBC"/>
                </a:solidFill>
                <a:latin typeface="Aptos"/>
              </a:rPr>
              <a:t>Observed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334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5F9"/>
                </a:solidFill>
                <a:latin typeface="Aptos"/>
              </a:rPr>
              <a:t>treadmill-1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63347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4C4C"/>
                </a:solidFill>
                <a:latin typeface="Aptos"/>
              </a:rPr>
              <a:t>OCCUPIED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906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5F9"/>
                </a:solidFill>
                <a:latin typeface="Aptos"/>
              </a:rPr>
              <a:t>treadmill-2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09067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2ED375"/>
                </a:solidFill>
                <a:latin typeface="Aptos"/>
              </a:rPr>
              <a:t>EMPTY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840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96FF"/>
                </a:solidFill>
                <a:latin typeface="Aptos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224528"/>
            <a:ext cx="2971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20">
                <a:solidFill>
                  <a:srgbClr val="F2F5F9"/>
                </a:solidFill>
                <a:latin typeface="Aptos"/>
              </a:defRPr>
            </a:pPr>
            <a:r>
              <a:t>• Reservation availability can be derived from live occupancy.</a:t>
            </a:r>
          </a:p>
          <a:p>
            <a:pPr>
              <a:spcAft>
                <a:spcPts val="720"/>
              </a:spcAft>
              <a:defRPr sz="1220">
                <a:solidFill>
                  <a:srgbClr val="F2F5F9"/>
                </a:solidFill>
                <a:latin typeface="Aptos"/>
              </a:defRPr>
            </a:pPr>
            <a:r>
              <a:t>• The same visual regions persist across frames.</a:t>
            </a:r>
          </a:p>
          <a:p>
            <a:pPr>
              <a:spcAft>
                <a:spcPts val="720"/>
              </a:spcAft>
              <a:defRPr sz="1220">
                <a:solidFill>
                  <a:srgbClr val="F2F5F9"/>
                </a:solidFill>
                <a:latin typeface="Aptos"/>
              </a:defRPr>
            </a:pPr>
            <a:r>
              <a:t>• The anchor point provides a compact tracked location.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EBC"/>
                </a:solidFill>
                <a:latin typeface="Aptos"/>
              </a:rPr>
              <a:t>Gym Treadmill Reservation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AEB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4. Empty-state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AEBC"/>
                </a:solidFill>
                <a:latin typeface="Aptos"/>
              </a:rPr>
              <a:t>A later frame shows both treadmill regions marked empty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7315200" cy="5074920"/>
          </a:xfrm>
          <a:prstGeom prst="roundRect">
            <a:avLst/>
          </a:prstGeom>
          <a:solidFill>
            <a:srgbClr val="080A0E"/>
          </a:solidFill>
          <a:ln w="12700">
            <a:solidFill>
              <a:srgbClr val="1E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9-07 1317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83381"/>
            <a:ext cx="7315200" cy="43770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234440"/>
            <a:ext cx="3474720" cy="507492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A541"/>
                </a:solidFill>
                <a:latin typeface="Aptos"/>
              </a:rPr>
              <a:t>Frame 82  •  t ≈ 8.20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AEBC"/>
                </a:solidFill>
                <a:latin typeface="Aptos"/>
              </a:rPr>
              <a:t>Observed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697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5F9"/>
                </a:solidFill>
                <a:latin typeface="Aptos"/>
              </a:rPr>
              <a:t>treadmill-1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26974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2ED375"/>
                </a:solidFill>
                <a:latin typeface="Aptos"/>
              </a:rPr>
              <a:t>EMPTY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644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5F9"/>
                </a:solidFill>
                <a:latin typeface="Aptos"/>
              </a:rPr>
              <a:t>treadmill-2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2ED375"/>
                </a:solidFill>
                <a:latin typeface="Aptos"/>
              </a:rPr>
              <a:t>EMPTY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069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96FF"/>
                </a:solidFill>
                <a:latin typeface="Aptos"/>
              </a:rPr>
              <a:t>Reservation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480560"/>
            <a:ext cx="26974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2F5F9"/>
                </a:solidFill>
                <a:latin typeface="Aptos"/>
              </a:rPr>
              <a:t>When a treadmill is detected as empty, the reservation layer can expose it as available according to the project's business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EBC"/>
                </a:solidFill>
                <a:latin typeface="Aptos"/>
              </a:rPr>
              <a:t>Gym Treadmill Reservation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AEB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9"/>
                </a:solidFill>
                <a:latin typeface="Aptos"/>
              </a:rPr>
              <a:t>5. README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AEBC"/>
                </a:solidFill>
                <a:latin typeface="Aptos"/>
              </a:rPr>
              <a:t>Core idea, evidence,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246120" cy="443484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D375"/>
                </a:solidFill>
                <a:latin typeface="Aptos"/>
              </a:rPr>
              <a:t>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400">
                <a:solidFill>
                  <a:srgbClr val="F2F5F9"/>
                </a:solidFill>
                <a:latin typeface="Aptos"/>
              </a:defRPr>
            </a:pPr>
            <a:r>
              <a:t>• Use camera observations to determine treadmill occupancy.</a:t>
            </a:r>
          </a:p>
          <a:p>
            <a:pPr>
              <a:spcAft>
                <a:spcPts val="720"/>
              </a:spcAft>
              <a:defRPr sz="1400">
                <a:solidFill>
                  <a:srgbClr val="F2F5F9"/>
                </a:solidFill>
                <a:latin typeface="Aptos"/>
              </a:defRPr>
            </a:pPr>
            <a:r>
              <a:t>• Represent each treadmill as a persistent region/state.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246120" cy="443484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7830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296FF"/>
                </a:solidFill>
                <a:latin typeface="Aptos"/>
              </a:rPr>
              <a:t>Evidence in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400">
                <a:solidFill>
                  <a:srgbClr val="F2F5F9"/>
                </a:solidFill>
                <a:latin typeface="Aptos"/>
              </a:defRPr>
            </a:pPr>
            <a:r>
              <a:t>• Frames 3, 30 and 82 show state changes over time.</a:t>
            </a:r>
          </a:p>
          <a:p>
            <a:pPr>
              <a:spcAft>
                <a:spcPts val="720"/>
              </a:spcAft>
              <a:defRPr sz="1400">
                <a:solidFill>
                  <a:srgbClr val="F2F5F9"/>
                </a:solidFill>
                <a:latin typeface="Aptos"/>
              </a:defRPr>
            </a:pPr>
            <a:r>
              <a:t>• Wide and bird's-eye views are presented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17320"/>
            <a:ext cx="3246120" cy="4434840"/>
          </a:xfrm>
          <a:prstGeom prst="roundRect">
            <a:avLst/>
          </a:prstGeom>
          <a:solidFill>
            <a:srgbClr val="17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7830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A541"/>
                </a:solidFill>
                <a:latin typeface="Aptos"/>
              </a:rPr>
              <a:t>Reservation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400">
                <a:solidFill>
                  <a:srgbClr val="F2F5F9"/>
                </a:solidFill>
                <a:latin typeface="Aptos"/>
              </a:defRPr>
            </a:pPr>
            <a:r>
              <a:t>• Occupied → not available.</a:t>
            </a:r>
          </a:p>
          <a:p>
            <a:pPr>
              <a:spcAft>
                <a:spcPts val="720"/>
              </a:spcAft>
              <a:defRPr sz="1400">
                <a:solidFill>
                  <a:srgbClr val="F2F5F9"/>
                </a:solidFill>
                <a:latin typeface="Aptos"/>
              </a:defRPr>
            </a:pPr>
            <a:r>
              <a:t>• Empty → candidate for reservation.</a:t>
            </a:r>
          </a:p>
          <a:p>
            <a:pPr>
              <a:spcAft>
                <a:spcPts val="720"/>
              </a:spcAft>
              <a:defRPr sz="1400">
                <a:solidFill>
                  <a:srgbClr val="F2F5F9"/>
                </a:solidFill>
                <a:latin typeface="Aptos"/>
              </a:defRPr>
            </a:pPr>
            <a:r>
              <a:t>• Business rules can add booking duration, user identity and release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08076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EBC"/>
                </a:solidFill>
                <a:latin typeface="Aptos"/>
              </a:rPr>
              <a:t>Project demo screenshots included from the supplied frames.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053328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D375"/>
                </a:solidFill>
                <a:latin typeface="Aptos"/>
              </a:rPr>
              <a:t>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EBC"/>
                </a:solidFill>
                <a:latin typeface="Aptos"/>
              </a:rPr>
              <a:t>Gym Treadmill Reservation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AEB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